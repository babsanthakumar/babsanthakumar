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88C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88C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45752" cy="4114800"/>
          </a:xfrm>
          <a:prstGeom prst="rect">
            <a:avLst/>
          </a:prstGeom>
          <a:solidFill>
            <a:srgbClr val="1A2B3C"/>
          </a:solidFill>
          <a:ln w="19050">
            <a:solidFill>
              <a:srgbClr val="E88C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828800"/>
            <a:ext cx="85313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Claude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834640"/>
            <a:ext cx="85313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E88C03"/>
                </a:solidFill>
              </a:rPr>
              <a:t>Web  vs  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749039"/>
            <a:ext cx="8531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0E0E0"/>
                </a:solidFill>
              </a:rPr>
              <a:t>Which is Best &amp; Why  |  Token Usage Deep Dive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94360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9090"/>
                </a:solidFill>
              </a:rPr>
              <a:t>Claude Code  ·  Managed Agents  ·  API Surfaces  ·  Cost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8C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Two Development Surfaces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5394960" cy="5394960"/>
          </a:xfrm>
          <a:prstGeom prst="rect">
            <a:avLst/>
          </a:prstGeom>
          <a:solidFill>
            <a:srgbClr val="1A2B3C"/>
          </a:solidFill>
          <a:ln w="1905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90FF"/>
                </a:solidFill>
              </a:rPr>
              <a:t>🌐  Claude.ai / Claude Code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E0E0E0"/>
                </a:solidFill>
              </a:rPr>
              <a:t>• Browser-based, zero install</a:t>
            </a:r>
          </a:p>
          <a:p>
            <a:r>
              <a:rPr sz="1350">
                <a:solidFill>
                  <a:srgbClr val="E0E0E0"/>
                </a:solidFill>
              </a:rPr>
              <a:t>• claude.ai/code web interface</a:t>
            </a:r>
          </a:p>
          <a:p>
            <a:r>
              <a:rPr sz="1350">
                <a:solidFill>
                  <a:srgbClr val="E0E0E0"/>
                </a:solidFill>
              </a:rPr>
              <a:t>• Managed Agents (server-run loop)</a:t>
            </a:r>
          </a:p>
          <a:p>
            <a:r>
              <a:rPr sz="1350">
                <a:solidFill>
                  <a:srgbClr val="E0E0E0"/>
                </a:solidFill>
              </a:rPr>
              <a:t>• Per-session containers</a:t>
            </a:r>
          </a:p>
          <a:p>
            <a:r>
              <a:rPr sz="1350">
                <a:solidFill>
                  <a:srgbClr val="E0E0E0"/>
                </a:solidFill>
              </a:rPr>
              <a:t>• File mounts &amp; workspace</a:t>
            </a:r>
          </a:p>
          <a:p>
            <a:r>
              <a:rPr sz="1350">
                <a:solidFill>
                  <a:srgbClr val="E0E0E0"/>
                </a:solidFill>
              </a:rPr>
              <a:t>• SSE event streaming</a:t>
            </a:r>
          </a:p>
          <a:p>
            <a:r>
              <a:rPr sz="1350">
                <a:solidFill>
                  <a:srgbClr val="E0E0E0"/>
                </a:solidFill>
              </a:rPr>
              <a:t>• Skills + MCP tools</a:t>
            </a:r>
          </a:p>
          <a:p>
            <a:r>
              <a:rPr sz="1350">
                <a:solidFill>
                  <a:srgbClr val="E0E0E0"/>
                </a:solidFill>
              </a:rPr>
              <a:t>• Anthropic handles infra</a:t>
            </a:r>
          </a:p>
          <a:p>
            <a:r>
              <a:rPr sz="1350">
                <a:solidFill>
                  <a:srgbClr val="E0E0E0"/>
                </a:solidFill>
              </a:rPr>
              <a:t>• Best for: exploratory work,</a:t>
            </a:r>
          </a:p>
          <a:p>
            <a:r>
              <a:rPr sz="1350">
                <a:solidFill>
                  <a:srgbClr val="E0E0E0"/>
                </a:solidFill>
              </a:rPr>
              <a:t>  agentic long-horizon tasks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19672" y="914400"/>
            <a:ext cx="5394960" cy="5394960"/>
          </a:xfrm>
          <a:prstGeom prst="rect">
            <a:avLst/>
          </a:prstGeom>
          <a:solidFill>
            <a:srgbClr val="1A2B3C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2552" y="10058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💻  Claude Code CLI / IDE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2552" y="16002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E0E0E0"/>
                </a:solidFill>
              </a:rPr>
              <a:t>• VS Code, JetBrains, terminal CLI</a:t>
            </a:r>
          </a:p>
          <a:p>
            <a:r>
              <a:rPr sz="1350">
                <a:solidFill>
                  <a:srgbClr val="E0E0E0"/>
                </a:solidFill>
              </a:rPr>
              <a:t>• Local execution environment</a:t>
            </a:r>
          </a:p>
          <a:p>
            <a:r>
              <a:rPr sz="1350">
                <a:solidFill>
                  <a:srgbClr val="E0E0E0"/>
                </a:solidFill>
              </a:rPr>
              <a:t>• Full codebase context</a:t>
            </a:r>
          </a:p>
          <a:p>
            <a:r>
              <a:rPr sz="1350">
                <a:solidFill>
                  <a:srgbClr val="E0E0E0"/>
                </a:solidFill>
              </a:rPr>
              <a:t>• Direct file read/write/edit</a:t>
            </a:r>
          </a:p>
          <a:p>
            <a:r>
              <a:rPr sz="1350">
                <a:solidFill>
                  <a:srgbClr val="E0E0E0"/>
                </a:solidFill>
              </a:rPr>
              <a:t>• Custom tool use (you host compute)</a:t>
            </a:r>
          </a:p>
          <a:p>
            <a:r>
              <a:rPr sz="1350">
                <a:solidFill>
                  <a:srgbClr val="E0E0E0"/>
                </a:solidFill>
              </a:rPr>
              <a:t>• Maximum flexibility &amp; control</a:t>
            </a:r>
          </a:p>
          <a:p>
            <a:r>
              <a:rPr sz="1350">
                <a:solidFill>
                  <a:srgbClr val="E0E0E0"/>
                </a:solidFill>
              </a:rPr>
              <a:t>• Batch processing (50% off)</a:t>
            </a:r>
          </a:p>
          <a:p>
            <a:r>
              <a:rPr sz="1350">
                <a:solidFill>
                  <a:srgbClr val="E0E0E0"/>
                </a:solidFill>
              </a:rPr>
              <a:t>• Prompt caching (up to 90% off)</a:t>
            </a:r>
          </a:p>
          <a:p>
            <a:r>
              <a:rPr sz="1350">
                <a:solidFill>
                  <a:srgbClr val="E0E0E0"/>
                </a:solidFill>
              </a:rPr>
              <a:t>• Best for: daily coding, CI/CD,</a:t>
            </a:r>
          </a:p>
          <a:p>
            <a:r>
              <a:rPr sz="1350">
                <a:solidFill>
                  <a:srgbClr val="E0E0E0"/>
                </a:solidFill>
              </a:rPr>
              <a:t>  large-repo workflows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32004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8C03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8C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Token Usage &amp;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11640312" cy="457200"/>
          </a:xfrm>
          <a:prstGeom prst="rect">
            <a:avLst/>
          </a:prstGeom>
          <a:solidFill>
            <a:srgbClr val="E88C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601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Context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960120"/>
            <a:ext cx="1463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Input $/1M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960120"/>
            <a:ext cx="16459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Output $/1M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9601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Thinking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960120"/>
            <a:ext cx="3044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Best 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71600"/>
            <a:ext cx="11640312" cy="566928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46304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88C03"/>
                </a:solidFill>
              </a:rPr>
              <a:t>Claude Fable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46304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1463040"/>
            <a:ext cx="1463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$10.00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1463040"/>
            <a:ext cx="16459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$50.00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146304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Always 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463040"/>
            <a:ext cx="3044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Most capable, agentic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965960"/>
            <a:ext cx="11640312" cy="566928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0574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</a:rPr>
              <a:t>Claude Opus 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0574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057400"/>
            <a:ext cx="1463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$5.00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2057400"/>
            <a:ext cx="16459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$25.00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0574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Adaptive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2057400"/>
            <a:ext cx="3044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Default recommended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60320"/>
            <a:ext cx="11640312" cy="566928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6517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</a:rPr>
              <a:t>Claude Opus 4.7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265176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1M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2651760"/>
            <a:ext cx="1463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$5.00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651760"/>
            <a:ext cx="16459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$25.00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265176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Adaptive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2651760"/>
            <a:ext cx="3044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Complex reasoning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154680"/>
            <a:ext cx="11640312" cy="566928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32461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</a:rPr>
              <a:t>Claude Sonnet 4.6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324612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3246120"/>
            <a:ext cx="1463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$3.00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0" y="3246120"/>
            <a:ext cx="16459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$15.00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324612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Adaptive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3246120"/>
            <a:ext cx="3044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Balanced cost/perf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3749039"/>
            <a:ext cx="11640312" cy="566928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3840479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Claude Haiku 4.5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384047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200K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0520" y="3840479"/>
            <a:ext cx="1463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$1.00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000" y="3840479"/>
            <a:ext cx="16459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$5.00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2360" y="3840479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23960" y="3840479"/>
            <a:ext cx="3044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E0E0E0"/>
                </a:solidFill>
              </a:rPr>
              <a:t>Fast, lightweight tasks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434840"/>
            <a:ext cx="3657600" cy="1234440"/>
          </a:xfrm>
          <a:prstGeom prst="rect">
            <a:avLst/>
          </a:prstGeom>
          <a:solidFill>
            <a:srgbClr val="0A2A1A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4480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⚡ Prompt Caching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4846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E0"/>
                </a:solidFill>
              </a:rPr>
              <a:t>5-min TTL: up to 90% off repeats
1-hour TTL: extended context savings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4434840"/>
            <a:ext cx="3657600" cy="1234440"/>
          </a:xfrm>
          <a:prstGeom prst="rect">
            <a:avLst/>
          </a:prstGeom>
          <a:solidFill>
            <a:srgbClr val="1A1A0A"/>
          </a:solidFill>
          <a:ln w="12700">
            <a:solidFill>
              <a:srgbClr val="E88C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61688" y="4480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8C03"/>
                </a:solidFill>
              </a:rPr>
              <a:t>📦 Batch Processing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1688" y="4846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E0"/>
                </a:solidFill>
              </a:rPr>
              <a:t>50% cost reduction on bulk tasks
Async processing, 24h turnaround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57031" y="4434840"/>
            <a:ext cx="3657600" cy="1234440"/>
          </a:xfrm>
          <a:prstGeom prst="rect">
            <a:avLst/>
          </a:prstGeom>
          <a:solidFill>
            <a:srgbClr val="0A122A"/>
          </a:solidFill>
          <a:ln w="1270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48472" y="4480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</a:rPr>
              <a:t>🔢 Token Counting 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8472" y="4846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E0"/>
                </a:solidFill>
              </a:rPr>
              <a:t>Count tokens before sending
Avoid surprises on large payloads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90FF"/>
                </a:solidFill>
              </a:rPr>
              <a:t>🌐  Claude Code Web — Deep Dive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5394960" cy="2468880"/>
          </a:xfrm>
          <a:prstGeom prst="rect">
            <a:avLst/>
          </a:prstGeom>
          <a:solidFill>
            <a:srgbClr val="1A2B3C"/>
          </a:solidFill>
          <a:ln w="1270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90FF"/>
                </a:solidFill>
              </a:rPr>
              <a:t>Managed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E0E0E0"/>
                </a:solidFill>
              </a:rPr>
              <a:t>✓  Anthropic runs the agent loop</a:t>
            </a:r>
          </a:p>
          <a:p>
            <a:r>
              <a:rPr sz="1250">
                <a:solidFill>
                  <a:srgbClr val="E0E0E0"/>
                </a:solidFill>
              </a:rPr>
              <a:t>✓  Per-session container workspace</a:t>
            </a:r>
          </a:p>
          <a:p>
            <a:r>
              <a:rPr sz="1250">
                <a:solidFill>
                  <a:srgbClr val="E0E0E0"/>
                </a:solidFill>
              </a:rPr>
              <a:t>✓  File mounts &amp; persistent storage</a:t>
            </a:r>
          </a:p>
          <a:p>
            <a:r>
              <a:rPr sz="1250">
                <a:solidFill>
                  <a:srgbClr val="E0E0E0"/>
                </a:solidFill>
              </a:rPr>
              <a:t>✓  SSE real-time event streaming</a:t>
            </a:r>
          </a:p>
          <a:p>
            <a:r>
              <a:rPr sz="1250">
                <a:solidFill>
                  <a:srgbClr val="E0E0E0"/>
                </a:solidFill>
              </a:rPr>
              <a:t>✓  Skills + MCP tool integrations</a:t>
            </a:r>
          </a:p>
          <a:p>
            <a:r>
              <a:rPr sz="1250">
                <a:solidFill>
                  <a:srgbClr val="E0E0E0"/>
                </a:solidFill>
              </a:rPr>
              <a:t>✓  Versioned, persisted agent configs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520440"/>
            <a:ext cx="5394960" cy="2468880"/>
          </a:xfrm>
          <a:prstGeom prst="rect">
            <a:avLst/>
          </a:prstGeom>
          <a:solidFill>
            <a:srgbClr val="1A2B3C"/>
          </a:solidFill>
          <a:ln w="1270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90FF"/>
                </a:solidFill>
              </a:rPr>
              <a:t>Ideal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E0E0E0"/>
                </a:solidFill>
              </a:rPr>
              <a:t>→  Long-horizon agentic tasks</a:t>
            </a:r>
          </a:p>
          <a:p>
            <a:r>
              <a:rPr sz="1250">
                <a:solidFill>
                  <a:srgbClr val="E0E0E0"/>
                </a:solidFill>
              </a:rPr>
              <a:t>→  No local infra to configure</a:t>
            </a:r>
          </a:p>
          <a:p>
            <a:r>
              <a:rPr sz="1250">
                <a:solidFill>
                  <a:srgbClr val="E0E0E0"/>
                </a:solidFill>
              </a:rPr>
              <a:t>→  Teams needing shared agents</a:t>
            </a:r>
          </a:p>
          <a:p>
            <a:r>
              <a:rPr sz="1250">
                <a:solidFill>
                  <a:srgbClr val="E0E0E0"/>
                </a:solidFill>
              </a:rPr>
              <a:t>→  Exploratory / prototyping work</a:t>
            </a:r>
          </a:p>
          <a:p>
            <a:r>
              <a:rPr sz="1250">
                <a:solidFill>
                  <a:srgbClr val="E0E0E0"/>
                </a:solidFill>
              </a:rPr>
              <a:t>→  Quick demos &amp; presentations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914400"/>
            <a:ext cx="5394960" cy="2468880"/>
          </a:xfrm>
          <a:prstGeom prst="rect">
            <a:avLst/>
          </a:prstGeom>
          <a:solidFill>
            <a:srgbClr val="1A2B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9601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4C3C"/>
                </a:solidFill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E0E0E0"/>
                </a:solidFill>
              </a:rPr>
              <a:t>✗  Not available on Bedrock/Vertex/Foundry</a:t>
            </a:r>
          </a:p>
          <a:p>
            <a:r>
              <a:rPr sz="1250">
                <a:solidFill>
                  <a:srgbClr val="E0E0E0"/>
                </a:solidFill>
              </a:rPr>
              <a:t>✗  Less control over execution environment</a:t>
            </a:r>
          </a:p>
          <a:p>
            <a:r>
              <a:rPr sz="1250">
                <a:solidFill>
                  <a:srgbClr val="E0E0E0"/>
                </a:solidFill>
              </a:rPr>
              <a:t>✗  Harder to integrate with local CI/CD</a:t>
            </a:r>
          </a:p>
          <a:p>
            <a:r>
              <a:rPr sz="1250">
                <a:solidFill>
                  <a:srgbClr val="E0E0E0"/>
                </a:solidFill>
              </a:rPr>
              <a:t>✗  Data leaves your infrastructure</a:t>
            </a:r>
          </a:p>
          <a:p>
            <a:r>
              <a:rPr sz="1250">
                <a:solidFill>
                  <a:srgbClr val="E0E0E0"/>
                </a:solidFill>
              </a:rPr>
              <a:t>✗  Agent IDs must be stored externally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520440"/>
            <a:ext cx="5394960" cy="2468880"/>
          </a:xfrm>
          <a:prstGeom prst="rect">
            <a:avLst/>
          </a:prstGeom>
          <a:solidFill>
            <a:srgbClr val="1A2B3C"/>
          </a:solidFill>
          <a:ln w="12700">
            <a:solidFill>
              <a:srgbClr val="E88C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566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8C03"/>
                </a:solidFill>
              </a:rPr>
              <a:t>Token Strategy (Web)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02336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E0E0E0"/>
                </a:solidFill>
              </a:rPr>
              <a:t>• Default: Claude Opus 4.8 (adaptive thinking)</a:t>
            </a:r>
          </a:p>
          <a:p>
            <a:r>
              <a:rPr sz="1250">
                <a:solidFill>
                  <a:srgbClr val="E0E0E0"/>
                </a:solidFill>
              </a:rPr>
              <a:t>• 1M context window for large projects</a:t>
            </a:r>
          </a:p>
          <a:p>
            <a:r>
              <a:rPr sz="1250">
                <a:solidFill>
                  <a:srgbClr val="E0E0E0"/>
                </a:solidFill>
              </a:rPr>
              <a:t>• Prompt caching on repeated system prompts</a:t>
            </a:r>
          </a:p>
          <a:p>
            <a:r>
              <a:rPr sz="1250">
                <a:solidFill>
                  <a:srgbClr val="E0E0E0"/>
                </a:solidFill>
              </a:rPr>
              <a:t>• Fable 5 available for hardest tasks</a:t>
            </a:r>
          </a:p>
          <a:p>
            <a:r>
              <a:rPr sz="1250">
                <a:solidFill>
                  <a:srgbClr val="E0E0E0"/>
                </a:solidFill>
              </a:rPr>
              <a:t>• Effort levels: low → xhigh →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CC71"/>
                </a:solidFill>
              </a:rPr>
              <a:t>💻  Claude Code CLI / IDE — Deep Dive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5394960" cy="2468880"/>
          </a:xfrm>
          <a:prstGeom prst="rect">
            <a:avLst/>
          </a:prstGeom>
          <a:solidFill>
            <a:srgbClr val="1A2B3C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Core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E0E0E0"/>
                </a:solidFill>
              </a:rPr>
              <a:t>✓  VS Code &amp; JetBrains extensions</a:t>
            </a:r>
          </a:p>
          <a:p>
            <a:r>
              <a:rPr sz="1250">
                <a:solidFill>
                  <a:srgbClr val="E0E0E0"/>
                </a:solidFill>
              </a:rPr>
              <a:t>✓  Terminal CLI — direct shell access</a:t>
            </a:r>
          </a:p>
          <a:p>
            <a:r>
              <a:rPr sz="1250">
                <a:solidFill>
                  <a:srgbClr val="E0E0E0"/>
                </a:solidFill>
              </a:rPr>
              <a:t>✓  Full repo read/write/edit/run</a:t>
            </a:r>
          </a:p>
          <a:p>
            <a:r>
              <a:rPr sz="1250">
                <a:solidFill>
                  <a:srgbClr val="E0E0E0"/>
                </a:solidFill>
              </a:rPr>
              <a:t>✓  Custom tool definitions (you host)</a:t>
            </a:r>
          </a:p>
          <a:p>
            <a:r>
              <a:rPr sz="1250">
                <a:solidFill>
                  <a:srgbClr val="E0E0E0"/>
                </a:solidFill>
              </a:rPr>
              <a:t>✓  Automatic tool runner loop</a:t>
            </a:r>
          </a:p>
          <a:p>
            <a:r>
              <a:rPr sz="1250">
                <a:solidFill>
                  <a:srgbClr val="E0E0E0"/>
                </a:solidFill>
              </a:rPr>
              <a:t>✓  Works on Bedrock, Vertex, Foundry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520440"/>
            <a:ext cx="5394960" cy="2468880"/>
          </a:xfrm>
          <a:prstGeom prst="rect">
            <a:avLst/>
          </a:prstGeom>
          <a:solidFill>
            <a:srgbClr val="1A2B3C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Ideal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E0E0E0"/>
                </a:solidFill>
              </a:rPr>
              <a:t>→  Day-to-day coding &amp; refactoring</a:t>
            </a:r>
          </a:p>
          <a:p>
            <a:r>
              <a:rPr sz="1250">
                <a:solidFill>
                  <a:srgbClr val="E0E0E0"/>
                </a:solidFill>
              </a:rPr>
              <a:t>→  Large monorepo workflows</a:t>
            </a:r>
          </a:p>
          <a:p>
            <a:r>
              <a:rPr sz="1250">
                <a:solidFill>
                  <a:srgbClr val="E0E0E0"/>
                </a:solidFill>
              </a:rPr>
              <a:t>→  CI/CD pipelines &amp; automation</a:t>
            </a:r>
          </a:p>
          <a:p>
            <a:r>
              <a:rPr sz="1250">
                <a:solidFill>
                  <a:srgbClr val="E0E0E0"/>
                </a:solidFill>
              </a:rPr>
              <a:t>→  Multi-file changes &amp; migrations</a:t>
            </a:r>
          </a:p>
          <a:p>
            <a:r>
              <a:rPr sz="1250">
                <a:solidFill>
                  <a:srgbClr val="E0E0E0"/>
                </a:solidFill>
              </a:rPr>
              <a:t>→  Offline / air-gapped environments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914400"/>
            <a:ext cx="5394960" cy="2468880"/>
          </a:xfrm>
          <a:prstGeom prst="rect">
            <a:avLst/>
          </a:prstGeom>
          <a:solidFill>
            <a:srgbClr val="1A2B3C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9601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</a:rPr>
              <a:t>Cost Optimizations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E0E0E0"/>
                </a:solidFill>
              </a:rPr>
              <a:t>💰  Batch API: 50% off bulk requests</a:t>
            </a:r>
          </a:p>
          <a:p>
            <a:r>
              <a:rPr sz="1250">
                <a:solidFill>
                  <a:srgbClr val="E0E0E0"/>
                </a:solidFill>
              </a:rPr>
              <a:t>⚡  Prompt cache: up to 90% off repeats</a:t>
            </a:r>
          </a:p>
          <a:p>
            <a:r>
              <a:rPr sz="1250">
                <a:solidFill>
                  <a:srgbClr val="E0E0E0"/>
                </a:solidFill>
              </a:rPr>
              <a:t>🔢  Token Count API: avoid surprises</a:t>
            </a:r>
          </a:p>
          <a:p>
            <a:r>
              <a:rPr sz="1250">
                <a:solidFill>
                  <a:srgbClr val="E0E0E0"/>
                </a:solidFill>
              </a:rPr>
              <a:t>📉  Use Haiku 4.5 for simple subtasks</a:t>
            </a:r>
          </a:p>
          <a:p>
            <a:r>
              <a:rPr sz="1250">
                <a:solidFill>
                  <a:srgbClr val="E0E0E0"/>
                </a:solidFill>
              </a:rPr>
              <a:t>🧩  Streaming for long I/O (no timeouts)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520440"/>
            <a:ext cx="5394960" cy="2468880"/>
          </a:xfrm>
          <a:prstGeom prst="rect">
            <a:avLst/>
          </a:prstGeom>
          <a:solidFill>
            <a:srgbClr val="1A2B3C"/>
          </a:solidFill>
          <a:ln w="12700">
            <a:solidFill>
              <a:srgbClr val="E88C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566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88C03"/>
                </a:solidFill>
              </a:rPr>
              <a:t>Token Strategy (IDE)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02336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E0E0E0"/>
                </a:solidFill>
              </a:rPr>
              <a:t>• Sonnet 4.6 for balanced daily coding</a:t>
            </a:r>
          </a:p>
          <a:p>
            <a:r>
              <a:rPr sz="1250">
                <a:solidFill>
                  <a:srgbClr val="E0E0E0"/>
                </a:solidFill>
              </a:rPr>
              <a:t>• Opus 4.8 for complex architecture tasks</a:t>
            </a:r>
          </a:p>
          <a:p>
            <a:r>
              <a:rPr sz="1250">
                <a:solidFill>
                  <a:srgbClr val="E0E0E0"/>
                </a:solidFill>
              </a:rPr>
              <a:t>• Haiku 4.5 for lint/format/simple fixes</a:t>
            </a:r>
          </a:p>
          <a:p>
            <a:r>
              <a:rPr sz="1250">
                <a:solidFill>
                  <a:srgbClr val="E0E0E0"/>
                </a:solidFill>
              </a:rPr>
              <a:t>• Adaptive thinking for non-trivial work</a:t>
            </a:r>
          </a:p>
          <a:p>
            <a:r>
              <a:rPr sz="1250">
                <a:solidFill>
                  <a:srgbClr val="E0E0E0"/>
                </a:solidFill>
              </a:rPr>
              <a:t>• 1M context: full codebase in one call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8C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Head-to-Head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11640312" cy="411480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8C03"/>
                </a:solidFill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80467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8C03"/>
                </a:solidFill>
              </a:rPr>
              <a:t>Web (Claude.ai)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804672"/>
            <a:ext cx="4325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8C03"/>
                </a:solidFill>
              </a:rPr>
              <a:t>IDE / CLI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11640312" cy="475488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E0E0"/>
                </a:solidFill>
              </a:rPr>
              <a:t>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29844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90FF"/>
                </a:solidFill>
              </a:rPr>
              <a:t>Zero install, 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29844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</a:rPr>
              <a:t>npm install / extension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737360"/>
            <a:ext cx="11640312" cy="475488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8013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E0E0"/>
                </a:solidFill>
              </a:rPr>
              <a:t>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80136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90FF"/>
                </a:solidFill>
              </a:rPr>
              <a:t>Anthropic-hosted container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8013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</a:rPr>
              <a:t>Local machine / your 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240280"/>
            <a:ext cx="11640312" cy="475488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3042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E0E0"/>
                </a:solidFill>
              </a:rPr>
              <a:t>Agent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30428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90FF"/>
                </a:solidFill>
              </a:rPr>
              <a:t>✅ Managed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3042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</a:rPr>
              <a:t>✅ Tool Runner (you host)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743200"/>
            <a:ext cx="11640312" cy="475488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8072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E0E0"/>
                </a:solidFill>
              </a:rPr>
              <a:t>File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80720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90FF"/>
                </a:solidFill>
              </a:rPr>
              <a:t>Per-session workspace mount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80720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</a:rPr>
              <a:t>Full local filesystem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246120"/>
            <a:ext cx="11640312" cy="475488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31012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E0E0"/>
                </a:solidFill>
              </a:rPr>
              <a:t>Bedrock/Vertex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31012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90FF"/>
                </a:solidFill>
              </a:rPr>
              <a:t>❌ Not supported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3101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</a:rPr>
              <a:t>✅ Fully supported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749039"/>
            <a:ext cx="11640312" cy="475488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8130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E0E0"/>
                </a:solidFill>
              </a:rPr>
              <a:t>Context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81304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90FF"/>
                </a:solidFill>
              </a:rPr>
              <a:t>Up to 1M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381304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</a:rPr>
              <a:t>Up to 1M tokens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51960"/>
            <a:ext cx="11640312" cy="475488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3159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E0E0"/>
                </a:solidFill>
              </a:rPr>
              <a:t>Prompt Caching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431596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90FF"/>
                </a:solidFill>
              </a:rPr>
              <a:t>✅ (system prompt cache)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3159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</a:rPr>
              <a:t>✅ (5-min &amp; 1-hour TTL)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754880"/>
            <a:ext cx="11640312" cy="475488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8188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E0E0"/>
                </a:solidFill>
              </a:rPr>
              <a:t>Batch 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81888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90FF"/>
                </a:solidFill>
              </a:rPr>
              <a:t>✅ via API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48188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</a:rPr>
              <a:t>✅ 50% cost reduction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257800"/>
            <a:ext cx="11640312" cy="475488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53218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E0E0"/>
                </a:solidFill>
              </a:rPr>
              <a:t>Control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532180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90FF"/>
                </a:solidFill>
              </a:rPr>
              <a:t>Moderate (Anthropic manages)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0" y="532180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</a:rPr>
              <a:t>Full control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5760720"/>
            <a:ext cx="11640312" cy="475488"/>
          </a:xfrm>
          <a:prstGeom prst="rect">
            <a:avLst/>
          </a:prstGeom>
          <a:solidFill>
            <a:srgbClr val="12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82472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E0E0"/>
                </a:solidFill>
              </a:rPr>
              <a:t>Best For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66160" y="582472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90FF"/>
                </a:solidFill>
              </a:rPr>
              <a:t>Demos, exploration, agents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8247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CC71"/>
                </a:solidFill>
              </a:rPr>
              <a:t>Daily coding, CI/CD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8C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Recommendation &amp; Decision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5394960" cy="2560320"/>
          </a:xfrm>
          <a:prstGeom prst="rect">
            <a:avLst/>
          </a:prstGeom>
          <a:solidFill>
            <a:srgbClr val="051A30"/>
          </a:solidFill>
          <a:ln w="25400"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90FF"/>
                </a:solidFill>
              </a:rPr>
              <a:t>Choose  🌐  Web  when...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E0E0"/>
                </a:solidFill>
              </a:rPr>
              <a:t>✔  You want zero-setup demos</a:t>
            </a:r>
          </a:p>
          <a:p>
            <a:r>
              <a:rPr sz="1300">
                <a:solidFill>
                  <a:srgbClr val="E0E0E0"/>
                </a:solidFill>
              </a:rPr>
              <a:t>✔  Long-horizon agentic tasks needed</a:t>
            </a:r>
          </a:p>
          <a:p>
            <a:r>
              <a:rPr sz="1300">
                <a:solidFill>
                  <a:srgbClr val="E0E0E0"/>
                </a:solidFill>
              </a:rPr>
              <a:t>✔  Shared team agents with versioning</a:t>
            </a:r>
          </a:p>
          <a:p>
            <a:r>
              <a:rPr sz="1300">
                <a:solidFill>
                  <a:srgbClr val="E0E0E0"/>
                </a:solidFill>
              </a:rPr>
              <a:t>✔  No local infra to maintain</a:t>
            </a:r>
          </a:p>
          <a:p>
            <a:r>
              <a:rPr sz="1300">
                <a:solidFill>
                  <a:srgbClr val="E0E0E0"/>
                </a:solidFill>
              </a:rPr>
              <a:t>✔  Exploring new features quickly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19672" y="914400"/>
            <a:ext cx="5394960" cy="2560320"/>
          </a:xfrm>
          <a:prstGeom prst="rect">
            <a:avLst/>
          </a:prstGeom>
          <a:solidFill>
            <a:srgbClr val="052510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2552" y="1005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Choose  💻  IDE  when...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2552" y="15087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E0E0"/>
                </a:solidFill>
              </a:rPr>
              <a:t>✔  Daily coding on large repos</a:t>
            </a:r>
          </a:p>
          <a:p>
            <a:r>
              <a:rPr sz="1300">
                <a:solidFill>
                  <a:srgbClr val="E0E0E0"/>
                </a:solidFill>
              </a:rPr>
              <a:t>✔  Need full filesystem / CI access</a:t>
            </a:r>
          </a:p>
          <a:p>
            <a:r>
              <a:rPr sz="1300">
                <a:solidFill>
                  <a:srgbClr val="E0E0E0"/>
                </a:solidFill>
              </a:rPr>
              <a:t>✔  Cost matters — use Batch + Cache</a:t>
            </a:r>
          </a:p>
          <a:p>
            <a:r>
              <a:rPr sz="1300">
                <a:solidFill>
                  <a:srgbClr val="E0E0E0"/>
                </a:solidFill>
              </a:rPr>
              <a:t>✔  Bedrock/Vertex/Foundry deployment</a:t>
            </a:r>
          </a:p>
          <a:p>
            <a:r>
              <a:rPr sz="1300">
                <a:solidFill>
                  <a:srgbClr val="E0E0E0"/>
                </a:solidFill>
              </a:rPr>
              <a:t>✔  Fine-grained tool control needed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657600"/>
            <a:ext cx="11640312" cy="1097280"/>
          </a:xfrm>
          <a:prstGeom prst="rect">
            <a:avLst/>
          </a:prstGeom>
          <a:solidFill>
            <a:srgbClr val="1A1405"/>
          </a:solidFill>
          <a:ln w="25400">
            <a:solidFill>
              <a:srgbClr val="E88C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703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88C03"/>
                </a:solidFill>
              </a:rPr>
              <a:t>🏆  Verdict: Use Both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6052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FFFFFF"/>
                </a:solidFill>
              </a:rPr>
              <a:t>Web for exploration &amp; agentic demos  ·  IDE for production coding &amp; cost efficiency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892040"/>
            <a:ext cx="11640312" cy="1600200"/>
          </a:xfrm>
          <a:prstGeom prst="rect">
            <a:avLst/>
          </a:prstGeom>
          <a:solidFill>
            <a:srgbClr val="1A2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8C03"/>
                </a:solidFill>
              </a:rPr>
              <a:t>Recommended Model Strategy: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2180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E0"/>
                </a:solidFill>
              </a:rPr>
              <a:t>Simple tasks → Haiku 4.5 ($1/$5)  |  Daily coding → Sonnet 4.6 ($3/$15)  |  Complex / Agents → Opus 4.8 ($5/$25)  |  Hardest → Fable 5 ($10/$50)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E0"/>
                </a:solidFill>
              </a:rPr>
              <a:t>Always enable: Adaptive Thinking  ·  Prompt Caching  ·  Streaming  ·  Token Count API before large calls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