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8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8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1A2B3C"/>
          </a:solidFill>
          <a:ln w="19050">
            <a:solidFill>
              <a:srgbClr val="E88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Claude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8C03"/>
                </a:solidFill>
              </a:rPr>
              <a:t>Web  vs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E0E0"/>
                </a:solidFill>
              </a:rPr>
              <a:t>Which is Best &amp; Why  |  Token Usage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9090"/>
                </a:solidFill>
              </a:rPr>
              <a:t>Claude Code  ·  Managed Agents  ·  API Surfaces  ·  Cost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8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Two Development Surfaces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394960" cy="5394960"/>
          </a:xfrm>
          <a:prstGeom prst="rect">
            <a:avLst/>
          </a:prstGeom>
          <a:solidFill>
            <a:srgbClr val="1A2B3C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🌐  Claude.ai / Claude Code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E0E0E0"/>
                </a:solidFill>
              </a:rPr>
              <a:t>• Browser-based, zero install</a:t>
            </a:r>
          </a:p>
          <a:p>
            <a:r>
              <a:rPr sz="1350">
                <a:solidFill>
                  <a:srgbClr val="E0E0E0"/>
                </a:solidFill>
              </a:rPr>
              <a:t>• claude.ai/code web interface</a:t>
            </a:r>
          </a:p>
          <a:p>
            <a:r>
              <a:rPr sz="1350">
                <a:solidFill>
                  <a:srgbClr val="E0E0E0"/>
                </a:solidFill>
              </a:rPr>
              <a:t>• Managed Agents (server-run loop)</a:t>
            </a:r>
          </a:p>
          <a:p>
            <a:r>
              <a:rPr sz="1350">
                <a:solidFill>
                  <a:srgbClr val="E0E0E0"/>
                </a:solidFill>
              </a:rPr>
              <a:t>• Per-session containers</a:t>
            </a:r>
          </a:p>
          <a:p>
            <a:r>
              <a:rPr sz="1350">
                <a:solidFill>
                  <a:srgbClr val="E0E0E0"/>
                </a:solidFill>
              </a:rPr>
              <a:t>• File mounts &amp; workspace</a:t>
            </a:r>
          </a:p>
          <a:p>
            <a:r>
              <a:rPr sz="1350">
                <a:solidFill>
                  <a:srgbClr val="E0E0E0"/>
                </a:solidFill>
              </a:rPr>
              <a:t>• SSE event streaming</a:t>
            </a:r>
          </a:p>
          <a:p>
            <a:r>
              <a:rPr sz="1350">
                <a:solidFill>
                  <a:srgbClr val="E0E0E0"/>
                </a:solidFill>
              </a:rPr>
              <a:t>• Skills + MCP tools</a:t>
            </a:r>
          </a:p>
          <a:p>
            <a:r>
              <a:rPr sz="1350">
                <a:solidFill>
                  <a:srgbClr val="E0E0E0"/>
                </a:solidFill>
              </a:rPr>
              <a:t>• Anthropic handles infra</a:t>
            </a:r>
          </a:p>
          <a:p>
            <a:r>
              <a:rPr sz="1350">
                <a:solidFill>
                  <a:srgbClr val="E0E0E0"/>
                </a:solidFill>
              </a:rPr>
              <a:t>• Best for: exploratory work,</a:t>
            </a:r>
          </a:p>
          <a:p>
            <a:r>
              <a:rPr sz="1350">
                <a:solidFill>
                  <a:srgbClr val="E0E0E0"/>
                </a:solidFill>
              </a:rPr>
              <a:t>  agentic long-horizon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19672" y="914400"/>
            <a:ext cx="5394960" cy="5394960"/>
          </a:xfrm>
          <a:prstGeom prst="rect">
            <a:avLst/>
          </a:prstGeom>
          <a:solidFill>
            <a:srgbClr val="1A2B3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005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💻  Claude Code CLI / IDE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E0E0E0"/>
                </a:solidFill>
              </a:rPr>
              <a:t>• VS Code, JetBrains, terminal CLI</a:t>
            </a:r>
          </a:p>
          <a:p>
            <a:r>
              <a:rPr sz="1350">
                <a:solidFill>
                  <a:srgbClr val="E0E0E0"/>
                </a:solidFill>
              </a:rPr>
              <a:t>• Local execution environment</a:t>
            </a:r>
          </a:p>
          <a:p>
            <a:r>
              <a:rPr sz="1350">
                <a:solidFill>
                  <a:srgbClr val="E0E0E0"/>
                </a:solidFill>
              </a:rPr>
              <a:t>• Full codebase context</a:t>
            </a:r>
          </a:p>
          <a:p>
            <a:r>
              <a:rPr sz="1350">
                <a:solidFill>
                  <a:srgbClr val="E0E0E0"/>
                </a:solidFill>
              </a:rPr>
              <a:t>• Direct file read/write/edit</a:t>
            </a:r>
          </a:p>
          <a:p>
            <a:r>
              <a:rPr sz="1350">
                <a:solidFill>
                  <a:srgbClr val="E0E0E0"/>
                </a:solidFill>
              </a:rPr>
              <a:t>• Custom tool use (you host compute)</a:t>
            </a:r>
          </a:p>
          <a:p>
            <a:r>
              <a:rPr sz="1350">
                <a:solidFill>
                  <a:srgbClr val="E0E0E0"/>
                </a:solidFill>
              </a:rPr>
              <a:t>• Maximum flexibility &amp; control</a:t>
            </a:r>
          </a:p>
          <a:p>
            <a:r>
              <a:rPr sz="1350">
                <a:solidFill>
                  <a:srgbClr val="E0E0E0"/>
                </a:solidFill>
              </a:rPr>
              <a:t>• Batch processing (50% off)</a:t>
            </a:r>
          </a:p>
          <a:p>
            <a:r>
              <a:rPr sz="1350">
                <a:solidFill>
                  <a:srgbClr val="E0E0E0"/>
                </a:solidFill>
              </a:rPr>
              <a:t>• Prompt caching (up to 90% off)</a:t>
            </a:r>
          </a:p>
          <a:p>
            <a:r>
              <a:rPr sz="1350">
                <a:solidFill>
                  <a:srgbClr val="E0E0E0"/>
                </a:solidFill>
              </a:rPr>
              <a:t>• Best for: daily coding, CI/CD,</a:t>
            </a:r>
          </a:p>
          <a:p>
            <a:r>
              <a:rPr sz="1350">
                <a:solidFill>
                  <a:srgbClr val="E0E0E0"/>
                </a:solidFill>
              </a:rPr>
              <a:t>  large-repo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3200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8C03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8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Token Usage &amp;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457200"/>
          </a:xfrm>
          <a:prstGeom prst="rect">
            <a:avLst/>
          </a:prstGeom>
          <a:solidFill>
            <a:srgbClr val="E88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Context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96012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Input $/1M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60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Output $/1M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960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960120"/>
            <a:ext cx="3044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Best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11640312" cy="56692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630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88C03"/>
                </a:solidFill>
              </a:rPr>
              <a:t>Claude Fable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463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46304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$10.00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46304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$50.00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Always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Most capable, agentic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65960"/>
            <a:ext cx="11640312" cy="56692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057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Claude Opus 4.8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0574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05740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$5.00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05740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$25.00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0574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Adaptive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057400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Default recommended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60320"/>
            <a:ext cx="11640312" cy="56692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517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Claude Opus 4.7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26517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1M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265176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$5.00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65176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$25.00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6517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Adaptive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651760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Complex reasoning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54680"/>
            <a:ext cx="11640312" cy="56692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2461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Claude Sonnet 4.6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2461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24612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$3.00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246120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$15.00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2461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Adaptive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246120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Balanced cost/perf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749039"/>
            <a:ext cx="11640312" cy="56692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84047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Claude Haiku 4.5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3840479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200K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3840479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3840479"/>
            <a:ext cx="1645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$5.00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840479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840479"/>
            <a:ext cx="3044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0E0E0"/>
                </a:solidFill>
              </a:rPr>
              <a:t>Fast, lightweight tasks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434840"/>
            <a:ext cx="3657600" cy="1234440"/>
          </a:xfrm>
          <a:prstGeom prst="rect">
            <a:avLst/>
          </a:prstGeom>
          <a:solidFill>
            <a:srgbClr val="0A2A1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480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⚡ Prompt Caching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846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E0"/>
                </a:solidFill>
              </a:rPr>
              <a:t>5-min TTL: up to 90% off repeats
1-hour TTL: extended context savings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4434840"/>
            <a:ext cx="3657600" cy="1234440"/>
          </a:xfrm>
          <a:prstGeom prst="rect">
            <a:avLst/>
          </a:prstGeom>
          <a:solidFill>
            <a:srgbClr val="1A1A0A"/>
          </a:solidFill>
          <a:ln w="12700">
            <a:solidFill>
              <a:srgbClr val="E88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61688" y="4480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C03"/>
                </a:solidFill>
              </a:rPr>
              <a:t>📦 Batch Processing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61688" y="4846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E0"/>
                </a:solidFill>
              </a:rPr>
              <a:t>50% cost reduction on bulk tasks
Async processing, 24h turnaround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57031" y="4434840"/>
            <a:ext cx="3657600" cy="1234440"/>
          </a:xfrm>
          <a:prstGeom prst="rect">
            <a:avLst/>
          </a:prstGeom>
          <a:solidFill>
            <a:srgbClr val="0A122A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8472" y="4480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90FF"/>
                </a:solidFill>
              </a:rPr>
              <a:t>🔢 Token Counting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8472" y="4846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E0"/>
                </a:solidFill>
              </a:rPr>
              <a:t>Count tokens before sending
Avoid surprises on large payloads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90FF"/>
                </a:solidFill>
              </a:rPr>
              <a:t>🌐  Claude Code Web —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39496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90FF"/>
                </a:solidFill>
              </a:rPr>
              <a:t>Managed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0E0E0"/>
                </a:solidFill>
              </a:rPr>
              <a:t>✓  Anthropic runs the agent loop</a:t>
            </a:r>
          </a:p>
          <a:p>
            <a:r>
              <a:rPr sz="1250">
                <a:solidFill>
                  <a:srgbClr val="E0E0E0"/>
                </a:solidFill>
              </a:rPr>
              <a:t>✓  Per-session container workspace</a:t>
            </a:r>
          </a:p>
          <a:p>
            <a:r>
              <a:rPr sz="1250">
                <a:solidFill>
                  <a:srgbClr val="E0E0E0"/>
                </a:solidFill>
              </a:rPr>
              <a:t>✓  File mounts &amp; persistent storage</a:t>
            </a:r>
          </a:p>
          <a:p>
            <a:r>
              <a:rPr sz="1250">
                <a:solidFill>
                  <a:srgbClr val="E0E0E0"/>
                </a:solidFill>
              </a:rPr>
              <a:t>✓  SSE real-time event streaming</a:t>
            </a:r>
          </a:p>
          <a:p>
            <a:r>
              <a:rPr sz="1250">
                <a:solidFill>
                  <a:srgbClr val="E0E0E0"/>
                </a:solidFill>
              </a:rPr>
              <a:t>✓  Skills + MCP tool integrations</a:t>
            </a:r>
          </a:p>
          <a:p>
            <a:r>
              <a:rPr sz="1250">
                <a:solidFill>
                  <a:srgbClr val="E0E0E0"/>
                </a:solidFill>
              </a:rPr>
              <a:t>✓  Versioned, persisted agent configs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520440"/>
            <a:ext cx="539496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90FF"/>
                </a:solidFill>
              </a:rPr>
              <a:t>Ideal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0E0E0"/>
                </a:solidFill>
              </a:rPr>
              <a:t>→  Long-horizon agentic tasks</a:t>
            </a:r>
          </a:p>
          <a:p>
            <a:r>
              <a:rPr sz="1250">
                <a:solidFill>
                  <a:srgbClr val="E0E0E0"/>
                </a:solidFill>
              </a:rPr>
              <a:t>→  No local infra to configure</a:t>
            </a:r>
          </a:p>
          <a:p>
            <a:r>
              <a:rPr sz="1250">
                <a:solidFill>
                  <a:srgbClr val="E0E0E0"/>
                </a:solidFill>
              </a:rPr>
              <a:t>→  Teams needing shared agents</a:t>
            </a:r>
          </a:p>
          <a:p>
            <a:r>
              <a:rPr sz="1250">
                <a:solidFill>
                  <a:srgbClr val="E0E0E0"/>
                </a:solidFill>
              </a:rPr>
              <a:t>→  Exploratory / prototyping work</a:t>
            </a:r>
          </a:p>
          <a:p>
            <a:r>
              <a:rPr sz="1250">
                <a:solidFill>
                  <a:srgbClr val="E0E0E0"/>
                </a:solidFill>
              </a:rPr>
              <a:t>→  Quick demos &amp; presentations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914400"/>
            <a:ext cx="539496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960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0E0E0"/>
                </a:solidFill>
              </a:rPr>
              <a:t>✗  Not available on Bedrock/Vertex/Foundry</a:t>
            </a:r>
          </a:p>
          <a:p>
            <a:r>
              <a:rPr sz="1250">
                <a:solidFill>
                  <a:srgbClr val="E0E0E0"/>
                </a:solidFill>
              </a:rPr>
              <a:t>✗  Less control over execution environment</a:t>
            </a:r>
          </a:p>
          <a:p>
            <a:r>
              <a:rPr sz="1250">
                <a:solidFill>
                  <a:srgbClr val="E0E0E0"/>
                </a:solidFill>
              </a:rPr>
              <a:t>✗  Harder to integrate with local CI/CD</a:t>
            </a:r>
          </a:p>
          <a:p>
            <a:r>
              <a:rPr sz="1250">
                <a:solidFill>
                  <a:srgbClr val="E0E0E0"/>
                </a:solidFill>
              </a:rPr>
              <a:t>✗  Data leaves your infrastructure</a:t>
            </a:r>
          </a:p>
          <a:p>
            <a:r>
              <a:rPr sz="1250">
                <a:solidFill>
                  <a:srgbClr val="E0E0E0"/>
                </a:solidFill>
              </a:rPr>
              <a:t>✗  Agent IDs must be stored externally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520440"/>
            <a:ext cx="539496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E88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566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8C03"/>
                </a:solidFill>
              </a:rPr>
              <a:t>Token Strategy (Web)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023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0E0E0"/>
                </a:solidFill>
              </a:rPr>
              <a:t>• Default: Claude Opus 4.8 (adaptive thinking)</a:t>
            </a:r>
          </a:p>
          <a:p>
            <a:r>
              <a:rPr sz="1250">
                <a:solidFill>
                  <a:srgbClr val="E0E0E0"/>
                </a:solidFill>
              </a:rPr>
              <a:t>• 1M context window for large projects</a:t>
            </a:r>
          </a:p>
          <a:p>
            <a:r>
              <a:rPr sz="1250">
                <a:solidFill>
                  <a:srgbClr val="E0E0E0"/>
                </a:solidFill>
              </a:rPr>
              <a:t>• Prompt caching on repeated system prompts</a:t>
            </a:r>
          </a:p>
          <a:p>
            <a:r>
              <a:rPr sz="1250">
                <a:solidFill>
                  <a:srgbClr val="E0E0E0"/>
                </a:solidFill>
              </a:rPr>
              <a:t>• Fable 5 available for hardest tasks</a:t>
            </a:r>
          </a:p>
          <a:p>
            <a:r>
              <a:rPr sz="1250">
                <a:solidFill>
                  <a:srgbClr val="E0E0E0"/>
                </a:solidFill>
              </a:rPr>
              <a:t>• Effort levels: low → xhigh →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</a:rPr>
              <a:t>💻  Claude Code CLI / IDE —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39496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0E0E0"/>
                </a:solidFill>
              </a:rPr>
              <a:t>✓  VS Code &amp; JetBrains extensions</a:t>
            </a:r>
          </a:p>
          <a:p>
            <a:r>
              <a:rPr sz="1250">
                <a:solidFill>
                  <a:srgbClr val="E0E0E0"/>
                </a:solidFill>
              </a:rPr>
              <a:t>✓  Terminal CLI — direct shell access</a:t>
            </a:r>
          </a:p>
          <a:p>
            <a:r>
              <a:rPr sz="1250">
                <a:solidFill>
                  <a:srgbClr val="E0E0E0"/>
                </a:solidFill>
              </a:rPr>
              <a:t>✓  Full repo read/write/edit/run</a:t>
            </a:r>
          </a:p>
          <a:p>
            <a:r>
              <a:rPr sz="1250">
                <a:solidFill>
                  <a:srgbClr val="E0E0E0"/>
                </a:solidFill>
              </a:rPr>
              <a:t>✓  Custom tool definitions (you host)</a:t>
            </a:r>
          </a:p>
          <a:p>
            <a:r>
              <a:rPr sz="1250">
                <a:solidFill>
                  <a:srgbClr val="E0E0E0"/>
                </a:solidFill>
              </a:rPr>
              <a:t>✓  Automatic tool runner loop</a:t>
            </a:r>
          </a:p>
          <a:p>
            <a:r>
              <a:rPr sz="1250">
                <a:solidFill>
                  <a:srgbClr val="E0E0E0"/>
                </a:solidFill>
              </a:rPr>
              <a:t>✓  Works on Bedrock, Vertex, Foundry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520440"/>
            <a:ext cx="539496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Ideal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0E0E0"/>
                </a:solidFill>
              </a:rPr>
              <a:t>→  Day-to-day coding &amp; refactoring</a:t>
            </a:r>
          </a:p>
          <a:p>
            <a:r>
              <a:rPr sz="1250">
                <a:solidFill>
                  <a:srgbClr val="E0E0E0"/>
                </a:solidFill>
              </a:rPr>
              <a:t>→  Large monorepo workflows</a:t>
            </a:r>
          </a:p>
          <a:p>
            <a:r>
              <a:rPr sz="1250">
                <a:solidFill>
                  <a:srgbClr val="E0E0E0"/>
                </a:solidFill>
              </a:rPr>
              <a:t>→  CI/CD pipelines &amp; automation</a:t>
            </a:r>
          </a:p>
          <a:p>
            <a:r>
              <a:rPr sz="1250">
                <a:solidFill>
                  <a:srgbClr val="E0E0E0"/>
                </a:solidFill>
              </a:rPr>
              <a:t>→  Multi-file changes &amp; migrations</a:t>
            </a:r>
          </a:p>
          <a:p>
            <a:r>
              <a:rPr sz="1250">
                <a:solidFill>
                  <a:srgbClr val="E0E0E0"/>
                </a:solidFill>
              </a:rPr>
              <a:t>→  Offline / air-gapped environments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914400"/>
            <a:ext cx="539496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960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Cost Optimizations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0E0E0"/>
                </a:solidFill>
              </a:rPr>
              <a:t>💰  Batch API: 50% off bulk requests</a:t>
            </a:r>
          </a:p>
          <a:p>
            <a:r>
              <a:rPr sz="1250">
                <a:solidFill>
                  <a:srgbClr val="E0E0E0"/>
                </a:solidFill>
              </a:rPr>
              <a:t>⚡  Prompt cache: up to 90% off repeats</a:t>
            </a:r>
          </a:p>
          <a:p>
            <a:r>
              <a:rPr sz="1250">
                <a:solidFill>
                  <a:srgbClr val="E0E0E0"/>
                </a:solidFill>
              </a:rPr>
              <a:t>🔢  Token Count API: avoid surprises</a:t>
            </a:r>
          </a:p>
          <a:p>
            <a:r>
              <a:rPr sz="1250">
                <a:solidFill>
                  <a:srgbClr val="E0E0E0"/>
                </a:solidFill>
              </a:rPr>
              <a:t>📉  Use Haiku 4.5 for simple subtasks</a:t>
            </a:r>
          </a:p>
          <a:p>
            <a:r>
              <a:rPr sz="1250">
                <a:solidFill>
                  <a:srgbClr val="E0E0E0"/>
                </a:solidFill>
              </a:rPr>
              <a:t>🧩  Streaming for long I/O (no timeouts)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520440"/>
            <a:ext cx="539496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E88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566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8C03"/>
                </a:solidFill>
              </a:rPr>
              <a:t>Token Strategy (IDE)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023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0E0E0"/>
                </a:solidFill>
              </a:rPr>
              <a:t>• Sonnet 4.6 for balanced daily coding</a:t>
            </a:r>
          </a:p>
          <a:p>
            <a:r>
              <a:rPr sz="1250">
                <a:solidFill>
                  <a:srgbClr val="E0E0E0"/>
                </a:solidFill>
              </a:rPr>
              <a:t>• Opus 4.8 for complex architecture tasks</a:t>
            </a:r>
          </a:p>
          <a:p>
            <a:r>
              <a:rPr sz="1250">
                <a:solidFill>
                  <a:srgbClr val="E0E0E0"/>
                </a:solidFill>
              </a:rPr>
              <a:t>• Haiku 4.5 for lint/format/simple fixes</a:t>
            </a:r>
          </a:p>
          <a:p>
            <a:r>
              <a:rPr sz="1250">
                <a:solidFill>
                  <a:srgbClr val="E0E0E0"/>
                </a:solidFill>
              </a:rPr>
              <a:t>• Adaptive thinking for non-trivial work</a:t>
            </a:r>
          </a:p>
          <a:p>
            <a:r>
              <a:rPr sz="1250">
                <a:solidFill>
                  <a:srgbClr val="E0E0E0"/>
                </a:solidFill>
              </a:rPr>
              <a:t>• 1M context: full codebase in one 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8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Head-to-Head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40312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8C03"/>
                </a:solidFill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8046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8C03"/>
                </a:solidFill>
              </a:rPr>
              <a:t>Web (Claude.ai)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804672"/>
            <a:ext cx="4325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8C03"/>
                </a:solidFill>
              </a:rPr>
              <a:t>IDE / CLI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640312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2984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Zero install,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29844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npm install / extension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37360"/>
            <a:ext cx="11640312" cy="47548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013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8013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Anthropic-hosted 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8013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Local machine / your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40280"/>
            <a:ext cx="11640312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04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3042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✅ Managed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3042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Tool Runner (you host)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11640312" cy="47548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807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File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8072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Per-session workspace mount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80720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Full local filesystem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46120"/>
            <a:ext cx="11640312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3101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Bedrock/Vertex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101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❌ Not supported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3101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Fully supported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49039"/>
            <a:ext cx="11640312" cy="47548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8130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Context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8130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Up to 1M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81304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Up to 1M tokens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51960"/>
            <a:ext cx="11640312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Prompt Caching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3159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✅ (system prompt cache)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3159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(5-min &amp; 1-hour TTL)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754880"/>
            <a:ext cx="11640312" cy="47548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8188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Batch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8188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✅ via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8188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50% cost reduction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257800"/>
            <a:ext cx="11640312" cy="47548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3218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3218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Moderate (Anthropic manages)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32180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Full control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760720"/>
            <a:ext cx="11640312" cy="475488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8247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</a:rPr>
              <a:t>Best For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8247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Demos, exploration,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8247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Daily coding, CI/CD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8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Recommendation &amp; Decision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394960" cy="2560320"/>
          </a:xfrm>
          <a:prstGeom prst="rect">
            <a:avLst/>
          </a:prstGeom>
          <a:solidFill>
            <a:srgbClr val="051A30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Choose  🌐  Web  when...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</a:rPr>
              <a:t>✔  You want zero-setup demos</a:t>
            </a:r>
          </a:p>
          <a:p>
            <a:r>
              <a:rPr sz="1300">
                <a:solidFill>
                  <a:srgbClr val="E0E0E0"/>
                </a:solidFill>
              </a:rPr>
              <a:t>✔  Long-horizon agentic tasks needed</a:t>
            </a:r>
          </a:p>
          <a:p>
            <a:r>
              <a:rPr sz="1300">
                <a:solidFill>
                  <a:srgbClr val="E0E0E0"/>
                </a:solidFill>
              </a:rPr>
              <a:t>✔  Shared team agents with versioning</a:t>
            </a:r>
          </a:p>
          <a:p>
            <a:r>
              <a:rPr sz="1300">
                <a:solidFill>
                  <a:srgbClr val="E0E0E0"/>
                </a:solidFill>
              </a:rPr>
              <a:t>✔  No local infra to maintain</a:t>
            </a:r>
          </a:p>
          <a:p>
            <a:r>
              <a:rPr sz="1300">
                <a:solidFill>
                  <a:srgbClr val="E0E0E0"/>
                </a:solidFill>
              </a:rPr>
              <a:t>✔  Exploring new features quickly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19672" y="914400"/>
            <a:ext cx="5394960" cy="2560320"/>
          </a:xfrm>
          <a:prstGeom prst="rect">
            <a:avLst/>
          </a:prstGeom>
          <a:solidFill>
            <a:srgbClr val="05251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Choose  💻  IDE  when...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15087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</a:rPr>
              <a:t>✔  Daily coding on large repos</a:t>
            </a:r>
          </a:p>
          <a:p>
            <a:r>
              <a:rPr sz="1300">
                <a:solidFill>
                  <a:srgbClr val="E0E0E0"/>
                </a:solidFill>
              </a:rPr>
              <a:t>✔  Need full filesystem / CI access</a:t>
            </a:r>
          </a:p>
          <a:p>
            <a:r>
              <a:rPr sz="1300">
                <a:solidFill>
                  <a:srgbClr val="E0E0E0"/>
                </a:solidFill>
              </a:rPr>
              <a:t>✔  Cost matters — use Batch + Cache</a:t>
            </a:r>
          </a:p>
          <a:p>
            <a:r>
              <a:rPr sz="1300">
                <a:solidFill>
                  <a:srgbClr val="E0E0E0"/>
                </a:solidFill>
              </a:rPr>
              <a:t>✔  Bedrock/Vertex/Foundry deployment</a:t>
            </a:r>
          </a:p>
          <a:p>
            <a:r>
              <a:rPr sz="1300">
                <a:solidFill>
                  <a:srgbClr val="E0E0E0"/>
                </a:solidFill>
              </a:rPr>
              <a:t>✔  Fine-grained tool control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57600"/>
            <a:ext cx="11640312" cy="1097280"/>
          </a:xfrm>
          <a:prstGeom prst="rect">
            <a:avLst/>
          </a:prstGeom>
          <a:solidFill>
            <a:srgbClr val="1A1405"/>
          </a:solidFill>
          <a:ln w="25400">
            <a:solidFill>
              <a:srgbClr val="E88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8C03"/>
                </a:solidFill>
              </a:rPr>
              <a:t>🏆  Verdict: Use Both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FFFFFF"/>
                </a:solidFill>
              </a:rPr>
              <a:t>Web for exploration &amp; agentic demos  ·  IDE for production coding &amp; cost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892040"/>
            <a:ext cx="11640312" cy="1600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C03"/>
                </a:solidFill>
              </a:rPr>
              <a:t>Recommended Model Strategy: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2180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Simple tasks → Haiku 4.5 ($1/$5)  |  Daily coding → Sonnet 4.6 ($3/$15)  |  Complex / Agents → Opus 4.8 ($5/$25)  |  Hardest → Fable 5 ($10/$50)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</a:rPr>
              <a:t>Always enable: Adaptive Thinking  ·  Prompt Caching  ·  Streaming  ·  Token Count API before large calls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8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Real Task: Build a User Login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9090"/>
                </a:solidFill>
              </a:rPr>
              <a:t>Token &amp; cost breakdown for the same task on Web vs 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11640312" cy="530352"/>
          </a:xfrm>
          <a:prstGeom prst="rect">
            <a:avLst/>
          </a:prstGeom>
          <a:solidFill>
            <a:srgbClr val="1A2B3C"/>
          </a:solidFill>
          <a:ln w="12700">
            <a:solidFill>
              <a:srgbClr val="E88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8C03"/>
                </a:solidFill>
              </a:rPr>
              <a:t>📋  Task: "Create a login page with email/password form, JWT auth, session dashboard showing user info &amp; last login time"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5577840" cy="4160520"/>
          </a:xfrm>
          <a:prstGeom prst="rect">
            <a:avLst/>
          </a:prstGeom>
          <a:solidFill>
            <a:srgbClr val="1A2B3C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90FF"/>
                </a:solidFill>
              </a:rPr>
              <a:t>🌐  Web — Claude Opus 4.8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2267712"/>
            <a:ext cx="5541264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13432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System prompt (per turn)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134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~1,200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13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cached after 1st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2706624"/>
            <a:ext cx="5541264" cy="41148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752344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User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523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~320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75234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one-time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3145536"/>
            <a:ext cx="5541264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91256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File context (HTML/JS/CSS)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912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~2,800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19125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cached after 1st edit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3584448"/>
            <a:ext cx="5541264" cy="41148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630168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Model output (code + explain)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301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~3,500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63016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output, billed full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4023360"/>
            <a:ext cx="5541264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69080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Tool calls (write 4 files)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0690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~900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06908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input side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4462272"/>
            <a:ext cx="5541264" cy="41148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507992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8C03"/>
                </a:solidFill>
              </a:rPr>
              <a:t>Total input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5079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~5,020 tokens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50799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1,200 cached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4901183"/>
            <a:ext cx="5541264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946903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8C03"/>
                </a:solidFill>
              </a:rPr>
              <a:t>Total output tokens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946903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~3,500 tokens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946903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5349240"/>
            <a:ext cx="5541264" cy="475488"/>
          </a:xfrm>
          <a:prstGeom prst="rect">
            <a:avLst/>
          </a:prstGeom>
          <a:solidFill>
            <a:srgbClr val="051830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394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90FF"/>
                </a:solidFill>
              </a:rPr>
              <a:t>💰  Est. Cost: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394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~$0.09  (with prompt cache)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1737360"/>
            <a:ext cx="5577840" cy="4160520"/>
          </a:xfrm>
          <a:prstGeom prst="rect">
            <a:avLst/>
          </a:prstGeom>
          <a:solidFill>
            <a:srgbClr val="1A2B3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1783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💻  IDE — Claude Sonnet 4.6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10528" y="2267712"/>
            <a:ext cx="5541264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2313432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System prompt (per turn)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23134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~1,200 tokens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231343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cached (5-min TTL)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0528" y="2706624"/>
            <a:ext cx="5541264" cy="411480"/>
          </a:xfrm>
          <a:prstGeom prst="rect">
            <a:avLst/>
          </a:prstGeom>
          <a:solidFill>
            <a:srgbClr val="102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2752344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User prompt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27523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~320 tokens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27523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one-time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10528" y="3145536"/>
            <a:ext cx="5541264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3191256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File context (read 6 files)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31912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~4,200 tokens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3191256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cached after 1st read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10528" y="3584448"/>
            <a:ext cx="5541264" cy="411480"/>
          </a:xfrm>
          <a:prstGeom prst="rect">
            <a:avLst/>
          </a:prstGeom>
          <a:solidFill>
            <a:srgbClr val="102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3630168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Model output (code + explain)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36301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~3,500 tokens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01400" y="3630168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output, billed full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10528" y="4023360"/>
            <a:ext cx="5541264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4069080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Tool calls (edit/write files)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40690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~600 tokens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1400" y="406908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input side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10528" y="4462272"/>
            <a:ext cx="5541264" cy="411480"/>
          </a:xfrm>
          <a:prstGeom prst="rect">
            <a:avLst/>
          </a:prstGeom>
          <a:solidFill>
            <a:srgbClr val="102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4507992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8C03"/>
                </a:solidFill>
              </a:rPr>
              <a:t>Total input tokens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45079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~6,320 tokens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01400" y="450799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>5,400 cached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10528" y="4901183"/>
            <a:ext cx="5541264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4946903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8C03"/>
                </a:solidFill>
              </a:rPr>
              <a:t>Total output tokens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4946903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~3,500 tokens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01400" y="4946903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9070"/>
                </a:solidFill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6510528" y="5349240"/>
            <a:ext cx="5541264" cy="475488"/>
          </a:xfrm>
          <a:prstGeom prst="rect">
            <a:avLst/>
          </a:prstGeom>
          <a:solidFill>
            <a:srgbClr val="05200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29400" y="5394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💰  Est. Cost: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0" y="5394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~$0.055  (Sonnet + cache)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916168"/>
            <a:ext cx="11640312" cy="685800"/>
          </a:xfrm>
          <a:prstGeom prst="rect">
            <a:avLst/>
          </a:prstGeom>
          <a:solidFill>
            <a:srgbClr val="1A1403"/>
          </a:solidFill>
          <a:ln w="19050">
            <a:solidFill>
              <a:srgbClr val="E88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8C03"/>
                </a:solidFill>
              </a:rPr>
              <a:t>🏆  IDE saves ~40% on this task  |  Repeat runs (cache warm): IDE ~$0.016  vs  Web ~$0.032  |  Batch mode: extra 50% 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